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b2884a9fbf4588" /><Relationship Type="http://schemas.openxmlformats.org/officeDocument/2006/relationships/extended-properties" Target="/docProps/app.xml" Id="R117c0d9ab5fe41c9" /><Relationship Type="http://schemas.openxmlformats.org/officeDocument/2006/relationships/officeDocument" Target="/ppt/presentation.xml" Id="Re5577a7f45c249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d1a9d410d34296"/>
  </p:sldMasterIdLst>
  <p:notesMasterIdLst>
    <p:notesMasterId xmlns:r="http://schemas.openxmlformats.org/officeDocument/2006/relationships" r:id="R7063ce8568eb4594"/>
  </p:notesMasterIdLst>
  <p:sldIdLst>
    <p:sldId xmlns:r="http://schemas.openxmlformats.org/officeDocument/2006/relationships" id="256" r:id="R3afb250045044e2d"/>
    <p:sldId xmlns:r="http://schemas.openxmlformats.org/officeDocument/2006/relationships" id="257" r:id="Rfc22a4a5d7164948"/>
    <p:sldId xmlns:r="http://schemas.openxmlformats.org/officeDocument/2006/relationships" id="258" r:id="R070295a55581458a"/>
    <p:sldId xmlns:r="http://schemas.openxmlformats.org/officeDocument/2006/relationships" id="259" r:id="R20f81edc731144e4"/>
    <p:sldId xmlns:r="http://schemas.openxmlformats.org/officeDocument/2006/relationships" id="260" r:id="R8d5f642680ea465d"/>
    <p:sldId xmlns:r="http://schemas.openxmlformats.org/officeDocument/2006/relationships" id="261" r:id="R549eb2f03ee74a46"/>
    <p:sldId xmlns:r="http://schemas.openxmlformats.org/officeDocument/2006/relationships" id="262" r:id="R8e3ca83f626b4ccc"/>
    <p:sldId xmlns:r="http://schemas.openxmlformats.org/officeDocument/2006/relationships" id="263" r:id="Rd46cecb8492e4bfe"/>
    <p:sldId xmlns:r="http://schemas.openxmlformats.org/officeDocument/2006/relationships" id="264" r:id="R6c0712ac51ee49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1a9d410d34296" /><Relationship Type="http://schemas.openxmlformats.org/officeDocument/2006/relationships/theme" Target="/ppt/theme/theme1.xml" Id="Re44db93236d0475a" /><Relationship Type="http://schemas.openxmlformats.org/officeDocument/2006/relationships/notesMaster" Target="/ppt/notesMasters/notesMaster1.xml" Id="R7063ce8568eb4594" /><Relationship Type="http://schemas.openxmlformats.org/officeDocument/2006/relationships/presProps" Target="/ppt/presProps.xml" Id="Rae6998b50ab94f31" /><Relationship Type="http://schemas.openxmlformats.org/officeDocument/2006/relationships/viewProps" Target="/ppt/viewProps.xml" Id="Rd296734202124422" /><Relationship Type="http://schemas.openxmlformats.org/officeDocument/2006/relationships/tableStyles" Target="/ppt/tableStyles.xml" Id="R55c2cf650d5148b2" /><Relationship Type="http://schemas.openxmlformats.org/officeDocument/2006/relationships/slide" Target="/ppt/slides/slide1.xml" Id="R3afb250045044e2d" /><Relationship Type="http://schemas.openxmlformats.org/officeDocument/2006/relationships/slide" Target="/ppt/slides/slide2.xml" Id="Rfc22a4a5d7164948" /><Relationship Type="http://schemas.openxmlformats.org/officeDocument/2006/relationships/slide" Target="/ppt/slides/slide3.xml" Id="R070295a55581458a" /><Relationship Type="http://schemas.openxmlformats.org/officeDocument/2006/relationships/slide" Target="/ppt/slides/slide4.xml" Id="R20f81edc731144e4" /><Relationship Type="http://schemas.openxmlformats.org/officeDocument/2006/relationships/slide" Target="/ppt/slides/slide5.xml" Id="R8d5f642680ea465d" /><Relationship Type="http://schemas.openxmlformats.org/officeDocument/2006/relationships/slide" Target="/ppt/slides/slide6.xml" Id="R549eb2f03ee74a46" /><Relationship Type="http://schemas.openxmlformats.org/officeDocument/2006/relationships/slide" Target="/ppt/slides/slide7.xml" Id="R8e3ca83f626b4ccc" /><Relationship Type="http://schemas.openxmlformats.org/officeDocument/2006/relationships/slide" Target="/ppt/slides/slide8.xml" Id="Rd46cecb8492e4bfe" /><Relationship Type="http://schemas.openxmlformats.org/officeDocument/2006/relationships/slide" Target="/ppt/slides/slide9.xml" Id="R6c0712ac51ee49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8f70eec9e944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1da8b973e474b" /><Relationship Type="http://schemas.openxmlformats.org/officeDocument/2006/relationships/notesMaster" Target="/ppt/notesMasters/notesMaster1.xml" Id="R449b14b3ecd9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119e872447410b" /><Relationship Type="http://schemas.openxmlformats.org/officeDocument/2006/relationships/notesMaster" Target="/ppt/notesMasters/notesMaster1.xml" Id="Rdf40768ff794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9528e99334fac" /><Relationship Type="http://schemas.openxmlformats.org/officeDocument/2006/relationships/notesMaster" Target="/ppt/notesMasters/notesMaster1.xml" Id="R2fa806ada1674f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2a8e2a740e4e2d" /><Relationship Type="http://schemas.openxmlformats.org/officeDocument/2006/relationships/notesMaster" Target="/ppt/notesMasters/notesMaster1.xml" Id="R6b1277145f6349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b422f9113749fd" /><Relationship Type="http://schemas.openxmlformats.org/officeDocument/2006/relationships/notesMaster" Target="/ppt/notesMasters/notesMaster1.xml" Id="R7f7f5539e8e54b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f5b9d096ff48b2" /><Relationship Type="http://schemas.openxmlformats.org/officeDocument/2006/relationships/notesMaster" Target="/ppt/notesMasters/notesMaster1.xml" Id="R8f8f35bb21fd41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fc024df80247e5" /><Relationship Type="http://schemas.openxmlformats.org/officeDocument/2006/relationships/notesMaster" Target="/ppt/notesMasters/notesMaster1.xml" Id="Rb13f355d74344c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496fc9e26c430d" /><Relationship Type="http://schemas.openxmlformats.org/officeDocument/2006/relationships/notesMaster" Target="/ppt/notesMasters/notesMaster1.xml" Id="R2548d8ab283542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0a7ec55eeb4d82" /><Relationship Type="http://schemas.openxmlformats.org/officeDocument/2006/relationships/notesMaster" Target="/ppt/notesMasters/notesMaster1.xml" Id="Raf23ac182b7e4e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2e2771a88408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424EF21-85B4-4BFC-9280-21FAC490EE5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C8E312F-D885-4124-A2BF-8A5E1E12292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9F76D8-C2C5-4AFD-A17E-13E2BD75081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71CF6D-817C-4EF8-B425-D2EA1B82A36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fdc04747f34c53" /><Relationship Type="http://schemas.openxmlformats.org/officeDocument/2006/relationships/slideLayout" Target="/ppt/slideLayouts/slideLayout2.xml" Id="Rbd08447af82740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BE0614-728E-473D-BD90-E4C0CB8F6A9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08447af82740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a14ffe800c400b" /><Relationship Type="http://schemas.openxmlformats.org/officeDocument/2006/relationships/notesSlide" Target="/ppt/notesSlides/notesSlide1.xml" Id="Re8ef4be0afa64f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ca677634894487" /><Relationship Type="http://schemas.openxmlformats.org/officeDocument/2006/relationships/notesSlide" Target="/ppt/notesSlides/notesSlide2.xml" Id="R934b100934f3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dce068691496f" /><Relationship Type="http://schemas.openxmlformats.org/officeDocument/2006/relationships/notesSlide" Target="/ppt/notesSlides/notesSlide3.xml" Id="Rca7fa50fad1e49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d5a7e8d4704164" /><Relationship Type="http://schemas.openxmlformats.org/officeDocument/2006/relationships/image" Target="/ppt/media/image.png" Id="Rc7059338f5034d2a" /><Relationship Type="http://schemas.openxmlformats.org/officeDocument/2006/relationships/notesSlide" Target="/ppt/notesSlides/notesSlide4.xml" Id="R8e59484f33d649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90dfb71404436" /><Relationship Type="http://schemas.openxmlformats.org/officeDocument/2006/relationships/notesSlide" Target="/ppt/notesSlides/notesSlide5.xml" Id="R1dab91ac3eea40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de550f175d4a37" /><Relationship Type="http://schemas.openxmlformats.org/officeDocument/2006/relationships/notesSlide" Target="/ppt/notesSlides/notesSlide6.xml" Id="R7575f90da50a4b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8c2237c60b4e94" /><Relationship Type="http://schemas.openxmlformats.org/officeDocument/2006/relationships/notesSlide" Target="/ppt/notesSlides/notesSlide7.xml" Id="Rc22ec12ea8dc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e9ec3039814365" /><Relationship Type="http://schemas.openxmlformats.org/officeDocument/2006/relationships/notesSlide" Target="/ppt/notesSlides/notesSlide8.xml" Id="R50dbf4c2c91d44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febd645c0c46b8" /><Relationship Type="http://schemas.openxmlformats.org/officeDocument/2006/relationships/notesSlide" Target="/ppt/notesSlides/notesSlide9.xml" Id="R002a3c684cb046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DA90D-76F7-473C-BD62-680DDF4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2DBB3-6875-496C-911F-944FF2B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858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13213F"/>
          </a:solidFill>
          <a:ln xmlns:a="http://schemas.openxmlformats.org/drawingml/2006/main" w="9525">
            <a:solidFill>
              <a:srgbClr val="1F33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F5D77-6882-4FA6-86B6-1CBE5DBA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5A"/>
          </a:solidFill>
          <a:ln xmlns:a="http://schemas.openxmlformats.org/drawingml/2006/main" w="0">
            <a:solidFill>
              <a:srgbClr val="0E8A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14E3F-1A52-44CC-834D-381464D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952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Connections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5B7A3-9D49-42B2-9CC6-7F413CEF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71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9EEF8"/>
                </a:solidFill>
              </a:defRPr>
            </a:pPr>
            <a:r>
              <a:rPr sz="2100" b="0">
                <a:solidFill>
                  <a:srgbClr val="E9EEF8"/>
                </a:solidFill>
              </a:rPr>
              <a:t>AI-powered collections workflow for bank recovery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4F908-2284-48D5-BC07-82902256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Concept deck for leadership review</a:t>
            </a:r>
          </a:p>
        </p:txBody>
      </p:sp>
    </p:spTree>
    <p:extLst>
      <p:ext uri="{BB962C8B-B14F-4D97-AF65-F5344CB8AC3E}">
        <p14:creationId xmlns:p14="http://schemas.microsoft.com/office/powerpoint/2010/main" val="346970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ED9F5-ABA5-40CC-A69D-FE73914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FA3BA-4AD9-43CE-815A-09A8CEF7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Why this is needed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B6E6A-54BB-42A5-BD54-F3EDFDDC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9AB4F-F0DD-41A9-ABEC-9F0A15A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Current collections operations are fragmented and inconsistent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B2E2D-CEB5-42AA-9988-9310E847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38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DB8A0-2D5F-464E-AEBB-8F93A52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Current pain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22D8C-293B-46C1-9F0F-CC1E78D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577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Manual case handling causes low throughput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Inconsistent borrower conversations across agents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Policy checks happen late and sometimes manually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Follow-ups and promise-to-pay tracking are error-prone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Audit trails are hard to stitch end-to-end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CF0-48F4-404A-89CF-76BA6569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38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BB713-6D48-44F3-9036-AD257C60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Business impact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42166-3FCE-4625-94CA-CEA7DE03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8577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Higher collections cost per recovered account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Lower promise-to-pay kept rate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Missed recovery opportunities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Compliance risk due to process variance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Weak visibility for supervisors</a:t>
            </a:r>
          </a:p>
        </p:txBody>
      </p:sp>
    </p:spTree>
    <p:extLst>
      <p:ext uri="{BB962C8B-B14F-4D97-AF65-F5344CB8AC3E}">
        <p14:creationId xmlns:p14="http://schemas.microsoft.com/office/powerpoint/2010/main" val="1243408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DDD64-34D0-41E3-A335-52D745C7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C920F-B5D6-4374-88C9-9D50DF82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Proposed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F35CB-F91C-4C24-ADFE-E67E2616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5A7D0-51DB-4EFF-8B3B-04A10CD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A graph-based agent that mirrors real collections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E429A-9705-42B4-A46E-F029D60D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29000" cy="4762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D9DF6-1595-49D9-AB9C-50B283B9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What it does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DA235-B9CD-4E80-B0EF-DF8BDDE7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0480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Prioritizes defaulter cases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Guides borrower interaction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Executes policy-safe tool calls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Supports payment and follow-up scheduling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Creates structured audit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3D761-E8CD-4B0B-93EE-6226D27A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4762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8C3BE-380D-4135-BD47-01376CEA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811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How it runs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82326-BFAD-4B42-87B7-16B1B41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Memory-aware runtime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React-style planning loop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Tool execution with explicit arguments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Reflection-driven quality gate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Response generation for final communication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80293-BFFA-437D-9162-22236512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429000" cy="4762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12A95-DFC0-4CF4-8C45-EC8E1F8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Why it is safer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3C1D0-262E-4B02-83AC-A2713BFA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0480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No account disclosure before verification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Deterministic policy authority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Traceable tool outputs and decisions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Escalation path for sensitive cases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Repeatable process across teams</a:t>
            </a:r>
          </a:p>
        </p:txBody>
      </p:sp>
    </p:spTree>
    <p:extLst>
      <p:ext uri="{BB962C8B-B14F-4D97-AF65-F5344CB8AC3E}">
        <p14:creationId xmlns:p14="http://schemas.microsoft.com/office/powerpoint/2010/main" val="426210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E97C7-0C91-45A1-AA5B-B735CE7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6B52B-794E-45C1-B85E-28ED556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Runtime topology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87C17-AA3C-4199-B4A6-555E414C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9B5FB-6FAB-4896-BC6F-BF7F38A9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Exact README graph exported as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6773A-DB7E-4AF4-BD67-265B6A5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44250" cy="4905375"/>
          </a:xfrm>
          <a:prstGeom xmlns:a="http://schemas.openxmlformats.org/drawingml/2006/main" prst="roundRect">
            <a:avLst>
              <a:gd name="adj" fmla="val 1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59338f5034d2a"/>
          <a:stretch xmlns:a="http://schemas.openxmlformats.org/drawingml/2006/main"/>
        </p:blipFill>
        <p:spPr>
          <a:xfrm xmlns:a="http://schemas.openxmlformats.org/drawingml/2006/main">
            <a:off x="5485021" y="1476375"/>
            <a:ext cx="1221957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5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D8638-E305-4414-A078-6B75DAA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B0EFA-4360-486D-A1AA-4D9E3764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Node-level responsibilities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4DBB2-D260-4940-B6CD-D59EC3B3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D12DD-D08E-4FEE-926C-BDEAB90C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Each node has a clear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7F2AB-DD86-4540-A074-9CB3CF3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DD689-D4C8-4CCE-BDF1-DE0C0BA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3830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8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D8C8F-320B-4788-AE4B-7AA8D783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MemoryRetrieveNode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14712-205B-4B29-A49E-8C64F579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A"/>
                </a:solidFill>
              </a:defRPr>
            </a:pPr>
            <a:r>
              <a:rPr sz="1275" b="0">
                <a:solidFill>
                  <a:srgbClr val="25324A"/>
                </a:solidFill>
              </a:rPr>
              <a:t>Fetches prior attempts, promises, and disputes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63383-216A-433D-A2C4-59BDBE9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8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6A5CA-4396-4C0D-9A5E-AADA5657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ReactNode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62070-57AC-4BD8-AEC4-AF27E5E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A"/>
                </a:solidFill>
              </a:defRPr>
            </a:pPr>
            <a:r>
              <a:rPr sz="1275" b="0">
                <a:solidFill>
                  <a:srgbClr val="25324A"/>
                </a:solidFill>
              </a:rPr>
              <a:t>Plans next step, chooses tool + arguments, or routes to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DC68B-CAFA-4D59-AA23-3CFE5D7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5280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8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538B2-FC0C-4C61-9F7C-98AF68C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ToolExecutionNode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DCF92-EAF7-48A7-8662-8DF84B3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52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A"/>
                </a:solidFill>
              </a:defRPr>
            </a:pPr>
            <a:r>
              <a:rPr sz="1275" b="0">
                <a:solidFill>
                  <a:srgbClr val="25324A"/>
                </a:solidFill>
              </a:rPr>
              <a:t>Executes one selected tool and returns structured observation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DE2C2-508B-4890-908B-06464DF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1005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8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A1B86-3285-4C2A-8296-D2F62FCA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ReflectNode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EEB1B-1E7E-4E65-8DCF-0A99DA0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A"/>
                </a:solidFill>
              </a:defRPr>
            </a:pPr>
            <a:r>
              <a:rPr sz="1275" b="0">
                <a:solidFill>
                  <a:srgbClr val="25324A"/>
                </a:solidFill>
              </a:rPr>
              <a:t>Checks completeness/compliance and decides complete vs incomplete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DD704-D070-417D-925A-D3604B2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67300"/>
            <a:ext cx="1038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">
            <a:solidFill>
              <a:srgbClr val="D8E0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D6960-1E06-4903-96E2-A5F090F9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ResponseNode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BEAED-0530-44AA-898D-8FE89F5F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A"/>
                </a:solidFill>
              </a:defRPr>
            </a:pPr>
            <a:r>
              <a:rPr sz="1275" b="0">
                <a:solidFill>
                  <a:srgbClr val="25324A"/>
                </a:solidFill>
              </a:rPr>
              <a:t>Generates concise, policy-safe customer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185478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9348E-B550-401E-B519-0B625B1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C108E-7929-43C0-97DF-51F7FD05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Tool mapping table (1/2)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4A86C-414B-4757-B7FF-03A8A062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19296-1744-4F14-9F94-5C13FBCE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Human team activity to tool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4BEE7-E1E9-4F89-9172-244464C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CE91A-ED22-4C36-A4FD-502539D0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85900"/>
            <a:ext cx="3243263" cy="414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Human Team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4422A-158B-4438-B8D3-49254EE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428750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1B4F8-A130-4ABF-BFDC-E02128BE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485900"/>
            <a:ext cx="1928813" cy="414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Tool / Agent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A6BF1-586A-403B-A7BA-43A76B13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A1FC9-623F-42E8-B876-CBA310DD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2586038" cy="414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B61A8-8EBA-4388-8555-A7252A94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1428750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AF302-ECAB-4B8F-ABD5-0B4D8E9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1485900"/>
            <a:ext cx="2586038" cy="414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0710C-6C5C-43FE-AF38-5C264FF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7917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2E48A-BF6C-4870-A9D5-0617FD3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5542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Get list of defaulters from core systems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27052-661B-4173-B1A6-426E799B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957917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6EF06-0369-4B43-BD6B-39AC507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005542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case_fetch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85A49-25AC-4590-B57D-499B8322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7917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A6F30-BF0E-49C3-8641-A09825EC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5542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portfolio_id, dpd_range, optional filters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DE59D-67FB-4A24-94AE-604536E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1957917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EDF90-7324-4204-B0B1-EEE21FAF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005542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ranked case list with dues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F3CEC-69C0-4273-9A50-82F2982D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7083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2DCB0-6EB4-41AD-BF3C-D1734F6B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34708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Decide who to call first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A41A2-B05D-4775-ADD1-EFE657A8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2487083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AF1C2-B351-4939-9B2C-698A240F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534708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case_prioritize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C85AF6-B209-4B73-987A-E963A741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7083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C89CE-2918-43A4-A20C-9F1683A8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34708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 list + risk signals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52732-230C-4FDB-8446-239A876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487083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596F7-B174-4D79-BD69-D42B5BB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534708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ordered call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8DB32-AD42-48BE-BAED-D89D6A72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6250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25FAE-4920-46EF-8DBE-E896067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63875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Attempt call / message on preferred channel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1EBDA-7ED6-4DDC-BF02-8C87C0C8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3016250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66B43-CEA9-4AF0-A82A-0BF6BCA2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3063875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contact_attempt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0A34BF-8A59-4AF6-815F-BC06E22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6250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8CECE-DA7A-421A-9F10-F24D2AFC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875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case_id, channel, template 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5BBA71-B897-48AC-8D62-87C44BBE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3016250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C56ADD-915E-48F6-A375-3A9C2C96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3063875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contact status and attempt 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26289C-4BD4-416A-81EB-92FEF5E5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5417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EE8556-8473-44B3-922C-6EF47EB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93042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Verify right party and credentials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DEC28E-88C5-4236-80A2-14257409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3545417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B68028-C42D-4D68-A636-DD3DF591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3593042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customer_verify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9B2FBA-92DC-4844-B3FC-DD68CDFE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5417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956BD0-E8D5-473F-8BA8-250D87C5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93042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masked identifiers + challenge answers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2A6F0F-9F5A-4A3B-BC0E-BC6FAC7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3545417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159BAD-F6C0-4AF5-A9FF-133DCA74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3593042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verified / failed / locked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CAF708-AA40-4321-9439-5B9257C1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74583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B9882B-04ED-45C9-B22C-051C6E03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22208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Read loan policy and EMI context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A402DE-EF2D-447B-A448-0EF3660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4074583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A8BEDD-3795-4D35-B737-D03C97D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4122208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loan_policy_lookup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97BD86-6A6B-4E1F-BB8F-FFB838F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4583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B69076-E3BE-4918-8A1B-30DD732A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22208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loan_id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BB8355-14C8-46DE-9FAE-AAE2C05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4074583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F4460A-577E-4AB8-8385-163B848F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4122208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policy limits and repayment rules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F2216A-2B68-49F4-B1D8-04B5F9A6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03750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21663-2F0F-4B87-9DBD-0AE60498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51375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Explain due amount and charges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6B88E1-6DE3-4FAB-A0DC-A35FE79F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4603750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580AD7-5E42-4A89-88C3-BF4A5EA0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4651375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dues_explain_build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E49F6C-5298-41DD-93DE-0D0A05BC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3750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6F2AC0-E757-4BF2-BAE0-0ED3441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51375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case_id, locale, policy snapshot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C1B3DA-89C2-4B06-84F9-A0454CBE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4603750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52FD87-6A7D-48C7-AF86-BD3762A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4651375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customer-safe dues script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781F9-B1AB-4CD5-98CE-5675F1FA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2917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1AB49F-324A-4CB1-8750-46ADF6B6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80542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Ask for immediate payment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ED3645-050D-4299-A98C-14968F5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5132917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E51C54-6F33-443A-9F57-2AF76CD4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5180542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payment_link_create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C1E8BC-73A1-40FB-892B-7FA00D1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32917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5583A9-223A-4368-9D1F-123A3B4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0542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loan_id, amount, channel, expiry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891ED2-A2FB-48F8-8238-8E2E1D21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5132917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F319B0-E943-4AFF-94AE-EB409A5F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5180542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signed payment link + reference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D75BF6-083A-4429-BD5E-81A640B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2083"/>
            <a:ext cx="339566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733A16-D1D0-4DE2-A07E-DD3C3F6A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09708"/>
            <a:ext cx="324326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Confirm payment completion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1E0A7C-3F46-4F65-9471-712B4B2C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5662083"/>
            <a:ext cx="2081213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B41CD8-A71F-4789-9EC6-AABAAEE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5709708"/>
            <a:ext cx="1928813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payment_status_check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00E86D-1CCE-469A-8FD5-754639C2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2083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5425B6-63B1-431A-BF34-51566D14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09708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payment reference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BB9238-AF88-49F7-A27C-A8E6A9C5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5662083"/>
            <a:ext cx="2738438" cy="5291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24D563-0EA5-4DEE-B679-C2554DD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5709708"/>
            <a:ext cx="2586038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success / pending / failed</a:t>
            </a:r>
          </a:p>
        </p:txBody>
      </p:sp>
    </p:spTree>
    <p:extLst>
      <p:ext uri="{BB962C8B-B14F-4D97-AF65-F5344CB8AC3E}">
        <p14:creationId xmlns:p14="http://schemas.microsoft.com/office/powerpoint/2010/main" val="20521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0598F-9B9D-4C24-A1D5-78EE4EEB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48175-05AD-4B72-BDD4-E2A90E4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Tool mapping table (2/2)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937B7-63E4-450D-99F3-C128714E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EEFE-8055-48E8-B7C5-CBBBC94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Human team activity to tool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66787-6956-4450-BA62-65741A56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FFFAA-0348-4FED-BC98-F3FBFDC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85900"/>
            <a:ext cx="3243263" cy="481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Human Team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19C45-2FC8-4BA0-9CD8-62B3D74C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428750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05C5E-9258-4AA2-9728-6BCB2EAD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485900"/>
            <a:ext cx="1928813" cy="481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Tool / Agent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25356-F72A-4359-B18B-3CF6C216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799C3-FB47-4222-8AA0-D6E04E04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2586038" cy="481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C4BB1-E817-412D-8E48-9A3CFA26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1428750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3947E-5E08-4E8D-B0AB-E5E6E70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1485900"/>
            <a:ext cx="2586038" cy="481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B3A"/>
                </a:solidFill>
              </a:defRPr>
            </a:pPr>
            <a:r>
              <a:rPr sz="975" b="1">
                <a:solidFill>
                  <a:srgbClr val="0B1B3A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C40DA-9FA9-493D-AE66-F5F8517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4063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DB4BE-138C-48B0-A732-FC99341C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1688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Handle 'cannot pay now' conversation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EC230-3EFC-4FA2-B3DE-2240BF0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2024063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52591-0642-4E0B-99F6-E7D31366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071688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negotiation_agent_tool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09DCD-80F8-4E40-B0FE-A9417D7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24063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E22E6-F248-4288-8D26-0BD5EF27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1688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 state + conversation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D2A16-F3A6-4249-9215-E2E82011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024063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0B108-3E36-4C38-96FC-0ADF141A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071688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recommended next offer/action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0D8EC-7C02-4153-A358-92B593D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09DF3-324D-4AAF-8A23-DBFC3CC5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Check if discount/restructure allowed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1F6BF-E14D-46BC-A6EE-BFA28CC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2619375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AA0FC-B158-4534-9571-CE3DF8C2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667000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offer_eligibility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77020-BA5C-4530-9619-6FA717F5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929B5-1159-414C-9821-519FE49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case_id, hardship flags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8B58B3-0A70-4760-A346-17905D10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619375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FAFA1-CABD-48A5-BD86-9536CBBD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667000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allowed offers + reason codes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0A7DE-EAA3-431E-A469-8DDD72A0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4688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FCDCB-3B67-4320-87AB-7B215BEA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2313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Capture promise to pay on future 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38DAE-FEC0-4893-B30A-60E6EDA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3214688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18138-0322-4613-B4EE-C9D7C84C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3262313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promise_capture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A4647C-2AE6-4F88-ADC5-05F8DCCA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4688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97F792-F3D6-495A-917C-5AA40415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62313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date/time, amount, channel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7C843F-78AD-4535-BBEB-93F7616C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3214688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9A0B47-37D0-4209-BDEB-62BF37F4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3262313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promise record +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2B930B-0B7E-420F-B628-F1A18A13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B2A0F-7D2C-450D-ADF6-1F8FF989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Schedule follow-up call/message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A52693-6DD4-4618-AAA2-3B4C29A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3810000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D9CBFB-25A1-4866-AE53-83F4C5B8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3857625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followup_schedule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4E8341-0196-4A65-BDCC-188EDE2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0AA0F9-6F1F-4D8C-BC4E-3C0291B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57625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case_id, promise date, SLA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A7AF48-29A8-45D1-B593-F82D50E5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3810000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6D5B5E-EEC4-4FC9-820B-0E6F3C8E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3857625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scheduled task 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734AB3-6E6F-46F7-9C60-4DF137EE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05313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F43A5C-C23E-4773-A823-7C271E2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52938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Log final call outcome/disposition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EA0C52-8450-4BB1-8B6F-21DD229F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4405313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282B5D-4318-4621-AE1A-18F7AE2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4452938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disposition_update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0864B5-4243-4D3B-8AD9-EAC3392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5313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D3602B-8716-4D49-AC98-3C4E83B0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2938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disposition code + notes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A59A5-1076-4D46-B9A8-94EAF4D6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4405313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B728B5-4354-4F3C-8A03-0B53F7B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4452938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persisted status + audit id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B1BE9B-E219-4C8C-B57B-7A31CA46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392C25-665A-421A-962B-5F4661AB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0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Escalate disputes/legal/fraud cases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B797C7-883B-438C-96B5-D0346CC2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5000625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C39341-FCA8-450B-88BD-13244C77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5048250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human_escalation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008620-D2B7-454E-8E3A-DB552769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00625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8E7175-8749-42F1-89E8-9A28EC9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reason + evidence summary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E96B32-DEA2-40D7-9DF5-5BE6350F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5000625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324EC4-191E-40D0-87F4-9B294F7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5048250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queue assignment 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721196-6D7D-42DD-BFF1-55CED8DB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95938"/>
            <a:ext cx="339566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F34528-F959-45F4-A7E8-1EB30C1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43563"/>
            <a:ext cx="324326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Quality-check risky interactions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CD2B29-7A26-4FCD-8D56-4F3D0B4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5595938"/>
            <a:ext cx="2081213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69F8DB-EC97-4DD8-9D22-3D15EB9D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5643563"/>
            <a:ext cx="1928813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qa_review_agent_tool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D0F277-FB05-4EFD-8CD2-F7372B6B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95938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CE36D4-E34A-462B-8F9C-D6782A4C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43563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transcript + policy snapshot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DF586E-0769-4F1C-B34A-08907DE9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5595938"/>
            <a:ext cx="2738438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E0E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47ADD9-D0EE-4A43-B23E-B1D7E809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5643563"/>
            <a:ext cx="2586038" cy="500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5324A"/>
                </a:solidFill>
              </a:defRPr>
            </a:pPr>
            <a:r>
              <a:rPr sz="825" b="0">
                <a:solidFill>
                  <a:srgbClr val="25324A"/>
                </a:solidFill>
              </a:rPr>
              <a:t>QA score + violations</a:t>
            </a:r>
          </a:p>
        </p:txBody>
      </p:sp>
    </p:spTree>
    <p:extLst>
      <p:ext uri="{BB962C8B-B14F-4D97-AF65-F5344CB8AC3E}">
        <p14:creationId xmlns:p14="http://schemas.microsoft.com/office/powerpoint/2010/main" val="2000188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020D9-C165-420E-AE3C-676CF19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AF7EC-96D3-41D9-BDF5-898757B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Sample 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5A61A-96A6-42BD-A3B2-4B6233C4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38C7-6674-41AC-930F-F39469CF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Borrower cannot pay now and commits after 5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A97D1-6194-4684-A761-DAECBF79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19511-D137-4A3D-9967-940B93A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Example turn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EC7EC-C905-4333-ADE3-A3A8022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Load context: prior promise history and verification status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Fetch current dues and policy window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Check concession eligibility (returns no discount)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Capture promise-to-pay for +5 days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Schedule follow-up reminder and update disposition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Reflect for completeness; if incomplete, loop back to ReactNode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Generate final borrower confirmation message</a:t>
            </a:r>
          </a:p>
        </p:txBody>
      </p:sp>
    </p:spTree>
    <p:extLst>
      <p:ext uri="{BB962C8B-B14F-4D97-AF65-F5344CB8AC3E}">
        <p14:creationId xmlns:p14="http://schemas.microsoft.com/office/powerpoint/2010/main" val="2107150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94E7FB-6FA3-43A0-9B14-A49596B22C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86875-4758-45B9-A4A9-DB1187AC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8E0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43DE0-9004-4F82-9C0F-FAE5558E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B3A"/>
                </a:solidFill>
              </a:defRPr>
            </a:pPr>
            <a:r>
              <a:rPr sz="1500" b="1">
                <a:solidFill>
                  <a:srgbClr val="0B1B3A"/>
                </a:solidFill>
              </a:rPr>
              <a:t>Implementation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D0725-36C4-498A-9C3A-1227797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7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B84"/>
                </a:solidFill>
              </a:defRPr>
            </a:pPr>
            <a:r>
              <a:rPr sz="1050" b="0">
                <a:solidFill>
                  <a:srgbClr val="5C6B84"/>
                </a:solidFill>
              </a:rPr>
              <a:t>Slide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17E98-0B6C-450B-B91B-8B65BA0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6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B84"/>
                </a:solidFill>
              </a:defRPr>
            </a:pPr>
            <a:r>
              <a:rPr sz="1125" b="0">
                <a:solidFill>
                  <a:srgbClr val="5C6B84"/>
                </a:solidFill>
              </a:rPr>
              <a:t>Phased rollout with measurable business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64505-4612-43CA-9A5F-8300574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238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313EF-CBF1-4289-8EEA-E088076E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Phase 1 (MVP)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E5B6E-28F8-44CF-BA74-E90A34D7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57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Core tools: fetch, verify, payment link, follow-up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Single channel rollout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Baseline analytics and audit trail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29B9B-99B8-4776-BE90-ADB725D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238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79D03-B7D1-4894-884F-D1E530B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5D7A3-5DB4-4D1F-A23D-1E11A71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857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Concession/policy tools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Escalation playbooks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Supervisor QA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D7E0E-584D-4B43-9716-72DF893D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238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37970-E188-4AF0-9694-4C7E22E1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B3A"/>
                </a:solidFill>
              </a:defRPr>
            </a:pPr>
            <a:r>
              <a:rPr sz="1650" b="1">
                <a:solidFill>
                  <a:srgbClr val="0B1B3A"/>
                </a:solidFill>
              </a:rPr>
              <a:t>Success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3A3A9-CF5D-4A59-836E-E7B960C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8577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Right-party-contact rate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Promise-to-pay kept rate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Recovery percentage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Average resolution turns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Policy violation attempts blocked</a:t>
            </a:r>
          </a:p>
          <a:p xmlns:a="http://schemas.openxmlformats.org/drawingml/2006/main">
            <a:pPr algn="l">
              <a:defRPr sz="1350" b="0">
                <a:solidFill>
                  <a:srgbClr val="25324A"/>
                </a:solidFill>
              </a:defRPr>
            </a:pPr>
            <a:r>
              <a:rPr sz="1350" b="0">
                <a:solidFill>
                  <a:srgbClr val="25324A"/>
                </a:solidFill>
              </a:rPr>
              <a:t>• Escalation quality and closure time</a:t>
            </a:r>
          </a:p>
        </p:txBody>
      </p:sp>
    </p:spTree>
    <p:extLst>
      <p:ext uri="{BB962C8B-B14F-4D97-AF65-F5344CB8AC3E}">
        <p14:creationId xmlns:p14="http://schemas.microsoft.com/office/powerpoint/2010/main" val="2022557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2026-04-29T18:11:12.6680000Z</dcterms:created>
  <dcterms:modified xsi:type="dcterms:W3CDTF">2026-04-29T18:11:12.6680000Z</dcterms:modified>
</coreProperties>
</file>